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aleway"/>
      <p:regular r:id="rId29"/>
      <p:bold r:id="rId30"/>
      <p:italic r:id="rId31"/>
      <p:boldItalic r:id="rId32"/>
    </p:embeddedFont>
    <p:embeddedFont>
      <p:font typeface="Roboto"/>
      <p:regular r:id="rId33"/>
      <p:bold r:id="rId34"/>
      <p:italic r:id="rId35"/>
      <p:boldItalic r:id="rId36"/>
    </p:embeddedFont>
    <p:embeddedFont>
      <p:font typeface="La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italic.fntdata"/><Relationship Id="rId30" Type="http://schemas.openxmlformats.org/officeDocument/2006/relationships/font" Target="fonts/Raleway-bold.fntdata"/><Relationship Id="rId11" Type="http://schemas.openxmlformats.org/officeDocument/2006/relationships/slide" Target="slides/slide6.xml"/><Relationship Id="rId33" Type="http://schemas.openxmlformats.org/officeDocument/2006/relationships/font" Target="fonts/Roboto-regular.fntdata"/><Relationship Id="rId10" Type="http://schemas.openxmlformats.org/officeDocument/2006/relationships/slide" Target="slides/slide5.xml"/><Relationship Id="rId32" Type="http://schemas.openxmlformats.org/officeDocument/2006/relationships/font" Target="fonts/Raleway-boldItalic.fntdata"/><Relationship Id="rId13" Type="http://schemas.openxmlformats.org/officeDocument/2006/relationships/slide" Target="slides/slide8.xml"/><Relationship Id="rId35" Type="http://schemas.openxmlformats.org/officeDocument/2006/relationships/font" Target="fonts/Roboto-italic.fntdata"/><Relationship Id="rId12" Type="http://schemas.openxmlformats.org/officeDocument/2006/relationships/slide" Target="slides/slide7.xml"/><Relationship Id="rId34" Type="http://schemas.openxmlformats.org/officeDocument/2006/relationships/font" Target="fonts/Roboto-bold.fntdata"/><Relationship Id="rId15" Type="http://schemas.openxmlformats.org/officeDocument/2006/relationships/slide" Target="slides/slide10.xml"/><Relationship Id="rId37" Type="http://schemas.openxmlformats.org/officeDocument/2006/relationships/font" Target="fonts/Lato-regular.fntdata"/><Relationship Id="rId14" Type="http://schemas.openxmlformats.org/officeDocument/2006/relationships/slide" Target="slides/slide9.xml"/><Relationship Id="rId36" Type="http://schemas.openxmlformats.org/officeDocument/2006/relationships/font" Target="fonts/Roboto-boldItalic.fntdata"/><Relationship Id="rId17" Type="http://schemas.openxmlformats.org/officeDocument/2006/relationships/slide" Target="slides/slide12.xml"/><Relationship Id="rId39" Type="http://schemas.openxmlformats.org/officeDocument/2006/relationships/font" Target="fonts/Lato-italic.fntdata"/><Relationship Id="rId16" Type="http://schemas.openxmlformats.org/officeDocument/2006/relationships/slide" Target="slides/slide11.xml"/><Relationship Id="rId38" Type="http://schemas.openxmlformats.org/officeDocument/2006/relationships/font" Target="fonts/La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ea3693212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ea3693212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947fff4c35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947fff4c35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ea3693212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ea3693212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ea3693212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ea3693212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947fff4c35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947fff4c3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947fff4c35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947fff4c35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947fff4c35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947fff4c35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947fff4c3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947fff4c3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947fff4c35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947fff4c35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947fff4c35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947fff4c35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947fff4c35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947fff4c35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947fff4c3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947fff4c3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47fff4c35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947fff4c35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47fff4c35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947fff4c35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947fff4c35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947fff4c35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947fff4c35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947fff4c35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947fff4c35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947fff4c35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947fff4c35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947fff4c35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947fff4c35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947fff4c35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ea3693212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ea3693212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ea3693212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ea3693212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ea3693212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ea3693212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111600" y="473850"/>
            <a:ext cx="8776200" cy="205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Visualizar, crear e insertar en una BdD con Python</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88" name="Google Shape;88;p13"/>
          <p:cNvPicPr preferRelativeResize="0"/>
          <p:nvPr/>
        </p:nvPicPr>
        <p:blipFill>
          <a:blip r:embed="rId3">
            <a:alphaModFix/>
          </a:blip>
          <a:stretch>
            <a:fillRect/>
          </a:stretch>
        </p:blipFill>
        <p:spPr>
          <a:xfrm>
            <a:off x="669950" y="1929875"/>
            <a:ext cx="7820950" cy="3110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7650" y="54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Índice</a:t>
            </a:r>
            <a:endParaRPr/>
          </a:p>
        </p:txBody>
      </p:sp>
      <p:sp>
        <p:nvSpPr>
          <p:cNvPr id="94" name="Google Shape;94;p14"/>
          <p:cNvSpPr txBox="1"/>
          <p:nvPr/>
        </p:nvSpPr>
        <p:spPr>
          <a:xfrm>
            <a:off x="129775" y="1539225"/>
            <a:ext cx="7688100" cy="3255300"/>
          </a:xfrm>
          <a:prstGeom prst="rect">
            <a:avLst/>
          </a:prstGeom>
          <a:noFill/>
          <a:ln>
            <a:noFill/>
          </a:ln>
        </p:spPr>
        <p:txBody>
          <a:bodyPr anchorCtr="0" anchor="t" bIns="91425" lIns="91425" spcFirstLastPara="1" rIns="91425" wrap="square" tIns="91425">
            <a:normAutofit/>
          </a:bodyPr>
          <a:lstStyle/>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Introducción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El uso externo del SQL en otros lenguages de programación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SQL utilizando Python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Visualizar BdD con Python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Crear e Insertar desde Python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Actualizar o agregar nuevos casos: desde un DataFrame a una BdD</a:t>
            </a:r>
            <a:endParaRPr sz="1600">
              <a:solidFill>
                <a:srgbClr val="595959"/>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7650" y="54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Índice</a:t>
            </a:r>
            <a:endParaRPr/>
          </a:p>
        </p:txBody>
      </p:sp>
      <p:sp>
        <p:nvSpPr>
          <p:cNvPr id="100" name="Google Shape;100;p15"/>
          <p:cNvSpPr txBox="1"/>
          <p:nvPr/>
        </p:nvSpPr>
        <p:spPr>
          <a:xfrm>
            <a:off x="129775" y="1539225"/>
            <a:ext cx="7688100" cy="3255300"/>
          </a:xfrm>
          <a:prstGeom prst="rect">
            <a:avLst/>
          </a:prstGeom>
          <a:noFill/>
          <a:ln>
            <a:noFill/>
          </a:ln>
        </p:spPr>
        <p:txBody>
          <a:bodyPr anchorCtr="0" anchor="t" bIns="91425" lIns="91425" spcFirstLastPara="1" rIns="91425" wrap="square" tIns="91425">
            <a:normAutofit/>
          </a:bodyPr>
          <a:lstStyle/>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Introducción</a:t>
            </a:r>
            <a:endParaRPr sz="1600">
              <a:solidFill>
                <a:srgbClr val="595959"/>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86450" y="546050"/>
            <a:ext cx="89742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sz="2140"/>
              <a:t>¿SQL se creó para ser gestionado únicamente desde un RDBMS ?</a:t>
            </a:r>
            <a:endParaRPr sz="2140"/>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7" name="Google Shape;107;p16"/>
          <p:cNvPicPr preferRelativeResize="0"/>
          <p:nvPr/>
        </p:nvPicPr>
        <p:blipFill>
          <a:blip r:embed="rId3">
            <a:alphaModFix/>
          </a:blip>
          <a:stretch>
            <a:fillRect/>
          </a:stretch>
        </p:blipFill>
        <p:spPr>
          <a:xfrm>
            <a:off x="729450" y="1343450"/>
            <a:ext cx="7969126" cy="37319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729450" y="578450"/>
            <a:ext cx="8012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sz="2140"/>
              <a:t>La verdad profesional del uso de Bases de Datos y el SQL</a:t>
            </a:r>
            <a:endParaRPr sz="2140"/>
          </a:p>
        </p:txBody>
      </p:sp>
      <p:sp>
        <p:nvSpPr>
          <p:cNvPr id="113" name="Google Shape;113;p17"/>
          <p:cNvSpPr txBox="1"/>
          <p:nvPr>
            <p:ph idx="1" type="body"/>
          </p:nvPr>
        </p:nvSpPr>
        <p:spPr>
          <a:xfrm>
            <a:off x="729450" y="1387325"/>
            <a:ext cx="81438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Considero que cuando se trabaja con un </a:t>
            </a:r>
            <a:r>
              <a:rPr lang="es-419" sz="1200">
                <a:solidFill>
                  <a:srgbClr val="374151"/>
                </a:solidFill>
                <a:latin typeface="Roboto"/>
                <a:ea typeface="Roboto"/>
                <a:cs typeface="Roboto"/>
                <a:sym typeface="Roboto"/>
              </a:rPr>
              <a:t>sistemas de gestión de bases de datos relacionales (RDBMS), es únicamente una forma de administrar la data. </a:t>
            </a:r>
            <a:br>
              <a:rPr lang="es-419" sz="1200">
                <a:solidFill>
                  <a:srgbClr val="374151"/>
                </a:solidFill>
                <a:latin typeface="Roboto"/>
                <a:ea typeface="Roboto"/>
                <a:cs typeface="Roboto"/>
                <a:sym typeface="Roboto"/>
              </a:rPr>
            </a:br>
            <a:br>
              <a:rPr lang="es-419" sz="1200">
                <a:solidFill>
                  <a:srgbClr val="374151"/>
                </a:solidFill>
                <a:latin typeface="Roboto"/>
                <a:ea typeface="Roboto"/>
                <a:cs typeface="Roboto"/>
                <a:sym typeface="Roboto"/>
              </a:rPr>
            </a:br>
            <a:r>
              <a:rPr lang="es-419" sz="1200">
                <a:solidFill>
                  <a:srgbClr val="374151"/>
                </a:solidFill>
                <a:latin typeface="Roboto"/>
                <a:ea typeface="Roboto"/>
                <a:cs typeface="Roboto"/>
                <a:sym typeface="Roboto"/>
              </a:rPr>
              <a:t>El hacer uso de la data, </a:t>
            </a:r>
            <a:r>
              <a:rPr lang="es-419" sz="1200">
                <a:solidFill>
                  <a:srgbClr val="374151"/>
                </a:solidFill>
                <a:latin typeface="Roboto"/>
                <a:ea typeface="Roboto"/>
                <a:cs typeface="Roboto"/>
                <a:sym typeface="Roboto"/>
              </a:rPr>
              <a:t>usualmente</a:t>
            </a:r>
            <a:r>
              <a:rPr lang="es-419" sz="1200">
                <a:solidFill>
                  <a:srgbClr val="374151"/>
                </a:solidFill>
                <a:latin typeface="Roboto"/>
                <a:ea typeface="Roboto"/>
                <a:cs typeface="Roboto"/>
                <a:sym typeface="Roboto"/>
              </a:rPr>
              <a:t> suele proceder de otro programa y lenguaje de programación: su uso al negocio es exterior al RDBMS…</a:t>
            </a:r>
            <a:endParaRPr/>
          </a:p>
        </p:txBody>
      </p:sp>
      <p:pic>
        <p:nvPicPr>
          <p:cNvPr id="114" name="Google Shape;114;p17"/>
          <p:cNvPicPr preferRelativeResize="0"/>
          <p:nvPr/>
        </p:nvPicPr>
        <p:blipFill rotWithShape="1">
          <a:blip r:embed="rId3">
            <a:alphaModFix/>
          </a:blip>
          <a:srcRect b="4516" l="2106" r="1702" t="5878"/>
          <a:stretch/>
        </p:blipFill>
        <p:spPr>
          <a:xfrm>
            <a:off x="1869375" y="2868900"/>
            <a:ext cx="5305598" cy="20260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title"/>
          </p:nvPr>
        </p:nvSpPr>
        <p:spPr>
          <a:xfrm>
            <a:off x="727650" y="54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Índice</a:t>
            </a:r>
            <a:endParaRPr/>
          </a:p>
        </p:txBody>
      </p:sp>
      <p:sp>
        <p:nvSpPr>
          <p:cNvPr id="120" name="Google Shape;120;p18"/>
          <p:cNvSpPr txBox="1"/>
          <p:nvPr/>
        </p:nvSpPr>
        <p:spPr>
          <a:xfrm>
            <a:off x="129775" y="1539225"/>
            <a:ext cx="7688100" cy="3255300"/>
          </a:xfrm>
          <a:prstGeom prst="rect">
            <a:avLst/>
          </a:prstGeom>
          <a:noFill/>
          <a:ln>
            <a:noFill/>
          </a:ln>
        </p:spPr>
        <p:txBody>
          <a:bodyPr anchorCtr="0" anchor="t" bIns="91425" lIns="91425" spcFirstLastPara="1" rIns="91425" wrap="square" tIns="91425">
            <a:normAutofit/>
          </a:bodyPr>
          <a:lstStyle/>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Introducción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El uso externo del SQL en otros </a:t>
            </a:r>
            <a:r>
              <a:rPr lang="es-419" sz="1600">
                <a:solidFill>
                  <a:srgbClr val="595959"/>
                </a:solidFill>
                <a:latin typeface="Lato"/>
                <a:ea typeface="Lato"/>
                <a:cs typeface="Lato"/>
                <a:sym typeface="Lato"/>
              </a:rPr>
              <a:t>lenguajes</a:t>
            </a:r>
            <a:r>
              <a:rPr lang="es-419" sz="1600">
                <a:solidFill>
                  <a:srgbClr val="595959"/>
                </a:solidFill>
                <a:latin typeface="Lato"/>
                <a:ea typeface="Lato"/>
                <a:cs typeface="Lato"/>
                <a:sym typeface="Lato"/>
              </a:rPr>
              <a:t> de programación</a:t>
            </a:r>
            <a:endParaRPr sz="1600">
              <a:solidFill>
                <a:srgbClr val="595959"/>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729450" y="546050"/>
            <a:ext cx="81258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Integrando SQL con otros lenguajes de programación</a:t>
            </a:r>
            <a:endParaRPr/>
          </a:p>
        </p:txBody>
      </p:sp>
      <p:sp>
        <p:nvSpPr>
          <p:cNvPr id="126" name="Google Shape;126;p19"/>
          <p:cNvSpPr txBox="1"/>
          <p:nvPr>
            <p:ph idx="1" type="body"/>
          </p:nvPr>
        </p:nvSpPr>
        <p:spPr>
          <a:xfrm>
            <a:off x="729450" y="1523600"/>
            <a:ext cx="8125800" cy="3474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419" sz="1200">
                <a:solidFill>
                  <a:srgbClr val="374151"/>
                </a:solidFill>
                <a:latin typeface="Roboto"/>
                <a:ea typeface="Roboto"/>
                <a:cs typeface="Roboto"/>
                <a:sym typeface="Roboto"/>
              </a:rPr>
              <a:t>SQL, como lenguaje de consulta estructurado, es esencial para interactuar con bases de datos relacionales. La realidad es que casi todos los lenguajes de programación modernos tienen bibliotecas o módulos para interactuar con bases de datos SQL. </a:t>
            </a:r>
            <a:endParaRPr sz="1200">
              <a:solidFill>
                <a:srgbClr val="374151"/>
              </a:solidFill>
              <a:latin typeface="Roboto"/>
              <a:ea typeface="Roboto"/>
              <a:cs typeface="Roboto"/>
              <a:sym typeface="Roboto"/>
            </a:endParaRPr>
          </a:p>
          <a:p>
            <a:pPr indent="0" lvl="0" marL="0" rtl="0" algn="l">
              <a:spcBef>
                <a:spcPts val="1200"/>
              </a:spcBef>
              <a:spcAft>
                <a:spcPts val="0"/>
              </a:spcAft>
              <a:buNone/>
            </a:pPr>
            <a:r>
              <a:rPr lang="es-419" sz="1200">
                <a:solidFill>
                  <a:srgbClr val="374151"/>
                </a:solidFill>
                <a:latin typeface="Roboto"/>
                <a:ea typeface="Roboto"/>
                <a:cs typeface="Roboto"/>
                <a:sym typeface="Roboto"/>
              </a:rPr>
              <a:t>A continuación, se presenta una visión general de cómo se utiliza SQL en varios lenguajes populares:</a:t>
            </a:r>
            <a:endParaRPr sz="1200">
              <a:solidFill>
                <a:srgbClr val="374151"/>
              </a:solidFill>
              <a:latin typeface="Roboto"/>
              <a:ea typeface="Roboto"/>
              <a:cs typeface="Roboto"/>
              <a:sym typeface="Roboto"/>
            </a:endParaRPr>
          </a:p>
          <a:p>
            <a:pPr indent="-228600" lvl="0" marL="457200" rtl="0" algn="l">
              <a:spcBef>
                <a:spcPts val="1500"/>
              </a:spcBef>
              <a:spcAft>
                <a:spcPts val="0"/>
              </a:spcAft>
              <a:buClr>
                <a:srgbClr val="374151"/>
              </a:buClr>
              <a:buSzPct val="100000"/>
              <a:buFont typeface="Roboto"/>
              <a:buNone/>
            </a:pPr>
            <a:r>
              <a:rPr lang="es-419" sz="1200">
                <a:solidFill>
                  <a:srgbClr val="374151"/>
                </a:solidFill>
                <a:latin typeface="Roboto"/>
                <a:ea typeface="Roboto"/>
                <a:cs typeface="Roboto"/>
                <a:sym typeface="Roboto"/>
              </a:rPr>
              <a:t>Java:</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JDBC (Java Database Connectivity): Es una API que permite a las aplicaciones Java interactuar con bases de datos. Los desarrolladores pueden ejecutar consultas SQL directamente o usar herramientas más avanzadas como ORM (Object-Relational Mapping).</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JPA (Java Persistence API) y Hibernate: Son frameworks que permiten mapear objetos Java a registros de bases de datos, permitiendo a los desarrolladores trabajar con objetos en lugar de SQL directo.</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ct val="100000"/>
              <a:buFont typeface="Roboto"/>
              <a:buNone/>
            </a:pPr>
            <a:r>
              <a:rPr lang="es-419" sz="1200">
                <a:solidFill>
                  <a:srgbClr val="374151"/>
                </a:solidFill>
                <a:latin typeface="Roboto"/>
                <a:ea typeface="Roboto"/>
                <a:cs typeface="Roboto"/>
                <a:sym typeface="Roboto"/>
              </a:rPr>
              <a:t>C#:</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ADO.NET: Proporciona acceso a bases de datos relacionales y no relacionales. Los desarrolladores pueden usar consultas SQL directamente o aprovechar Entity Framework, un ORM popular para .NET.</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Entity Framework: Permite a los desarrolladores trabajar con datos como objetos y propiedades, y el framework se encarga de generar y ejecutar el SQL necesario.</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ct val="100000"/>
              <a:buFont typeface="Roboto"/>
              <a:buNone/>
            </a:pPr>
            <a:r>
              <a:rPr lang="es-419" sz="1200">
                <a:solidFill>
                  <a:srgbClr val="374151"/>
                </a:solidFill>
                <a:latin typeface="Roboto"/>
                <a:ea typeface="Roboto"/>
                <a:cs typeface="Roboto"/>
                <a:sym typeface="Roboto"/>
              </a:rPr>
              <a:t>PHP:</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PDO (PHP Data Objects): Es una extensión para acceder a bases de datos en PHP. Permite ejecutar consultas SQL y obtener resultados en forma de objetos o arrays.</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MySQLi: Es una extensión específica para MySQL que permite a los desarrolladores de PHP ejecutar consultas SQL y administrar bases de datos MySQL.</a:t>
            </a:r>
            <a:endParaRPr sz="1200">
              <a:solidFill>
                <a:srgbClr val="37415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idx="1" type="body"/>
          </p:nvPr>
        </p:nvSpPr>
        <p:spPr>
          <a:xfrm>
            <a:off x="729450" y="1458775"/>
            <a:ext cx="8028600" cy="3528000"/>
          </a:xfrm>
          <a:prstGeom prst="rect">
            <a:avLst/>
          </a:prstGeom>
        </p:spPr>
        <p:txBody>
          <a:bodyPr anchorCtr="0" anchor="t" bIns="91425" lIns="91425" spcFirstLastPara="1" rIns="91425" wrap="square" tIns="91425">
            <a:normAutofit fontScale="85000" lnSpcReduction="20000"/>
          </a:bodyPr>
          <a:lstStyle/>
          <a:p>
            <a:pPr indent="-228600" lvl="0" marL="457200" rtl="0" algn="l">
              <a:spcBef>
                <a:spcPts val="1500"/>
              </a:spcBef>
              <a:spcAft>
                <a:spcPts val="0"/>
              </a:spcAft>
              <a:buClr>
                <a:srgbClr val="374151"/>
              </a:buClr>
              <a:buSzPct val="100000"/>
              <a:buFont typeface="Roboto"/>
              <a:buNone/>
            </a:pPr>
            <a:r>
              <a:rPr lang="es-419" sz="1200">
                <a:solidFill>
                  <a:srgbClr val="374151"/>
                </a:solidFill>
                <a:latin typeface="Roboto"/>
                <a:ea typeface="Roboto"/>
                <a:cs typeface="Roboto"/>
                <a:sym typeface="Roboto"/>
              </a:rPr>
              <a:t>JavaScript (Node.js):</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Node.js drivers: Hay drivers específicos para bases de datos populares como MySQL, PostgreSQL y SQLite que permiten ejecutar consultas SQL directamente.</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ORMs como Sequelize o TypeORM: Permiten a los desarrolladores trabajar con datos en un estilo más orientado a objetos, abstractando muchas de las consultas SQL.</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ct val="100000"/>
              <a:buFont typeface="Roboto"/>
              <a:buNone/>
            </a:pPr>
            <a:r>
              <a:rPr lang="es-419" sz="1200">
                <a:solidFill>
                  <a:srgbClr val="374151"/>
                </a:solidFill>
                <a:latin typeface="Roboto"/>
                <a:ea typeface="Roboto"/>
                <a:cs typeface="Roboto"/>
                <a:sym typeface="Roboto"/>
              </a:rPr>
              <a:t>Ruby:</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Active Record: Es el ORM incluido en Ruby on Rails. Permite a los desarrolladores definir modelos (que corresponden a tablas en la base de datos) y trabajar con ellos de manera orientada a objetos, generando automáticamente el SQL necesario.</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ct val="100000"/>
              <a:buFont typeface="Roboto"/>
              <a:buNone/>
            </a:pPr>
            <a:r>
              <a:rPr lang="es-419" sz="1200">
                <a:solidFill>
                  <a:srgbClr val="374151"/>
                </a:solidFill>
                <a:latin typeface="Roboto"/>
                <a:ea typeface="Roboto"/>
                <a:cs typeface="Roboto"/>
                <a:sym typeface="Roboto"/>
              </a:rPr>
              <a:t>Go (Golang):</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Go's database/sql package: Proporciona una interfaz genérica para interactuar con RDBMS. Los drivers específicos para bases de datos como MySQL, PostgreSQL y SQLite permiten la ejecución de consultas SQL.</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ORMs como GORM: Ofrecen una forma más alta de abstracción para trabajar con bases de datos.</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ct val="100000"/>
              <a:buFont typeface="Roboto"/>
              <a:buNone/>
            </a:pPr>
            <a:r>
              <a:rPr lang="es-419" sz="1200">
                <a:solidFill>
                  <a:srgbClr val="374151"/>
                </a:solidFill>
                <a:latin typeface="Roboto"/>
                <a:ea typeface="Roboto"/>
                <a:cs typeface="Roboto"/>
                <a:sym typeface="Roboto"/>
              </a:rPr>
              <a:t>R:</a:t>
            </a:r>
            <a:endParaRPr sz="1200">
              <a:solidFill>
                <a:srgbClr val="374151"/>
              </a:solidFill>
              <a:latin typeface="Roboto"/>
              <a:ea typeface="Roboto"/>
              <a:cs typeface="Roboto"/>
              <a:sym typeface="Roboto"/>
            </a:endParaRPr>
          </a:p>
          <a:p>
            <a:pPr indent="-293369" lvl="1" marL="914400" rtl="0" algn="l">
              <a:spcBef>
                <a:spcPts val="0"/>
              </a:spcBef>
              <a:spcAft>
                <a:spcPts val="0"/>
              </a:spcAft>
              <a:buClr>
                <a:srgbClr val="374151"/>
              </a:buClr>
              <a:buSzPct val="100000"/>
              <a:buFont typeface="Roboto"/>
              <a:buChar char="●"/>
            </a:pPr>
            <a:r>
              <a:rPr lang="es-419" sz="1200">
                <a:solidFill>
                  <a:srgbClr val="374151"/>
                </a:solidFill>
                <a:latin typeface="Roboto"/>
                <a:ea typeface="Roboto"/>
                <a:cs typeface="Roboto"/>
                <a:sym typeface="Roboto"/>
              </a:rPr>
              <a:t>Paquetes como RMySQL o RPostgreSQL: Permiten a los usuarios de R conectarse a bases de datos y ejecutar consultas SQL directamente desde R.</a:t>
            </a:r>
            <a:endParaRPr sz="1200">
              <a:solidFill>
                <a:srgbClr val="374151"/>
              </a:solidFill>
              <a:latin typeface="Roboto"/>
              <a:ea typeface="Roboto"/>
              <a:cs typeface="Roboto"/>
              <a:sym typeface="Roboto"/>
            </a:endParaRPr>
          </a:p>
          <a:p>
            <a:pPr indent="0" lvl="0" marL="0" rtl="0" algn="l">
              <a:spcBef>
                <a:spcPts val="1500"/>
              </a:spcBef>
              <a:spcAft>
                <a:spcPts val="1200"/>
              </a:spcAft>
              <a:buNone/>
            </a:pPr>
            <a:r>
              <a:rPr lang="es-419" sz="1200">
                <a:solidFill>
                  <a:srgbClr val="374151"/>
                </a:solidFill>
                <a:latin typeface="Roboto"/>
                <a:ea typeface="Roboto"/>
                <a:cs typeface="Roboto"/>
                <a:sym typeface="Roboto"/>
              </a:rPr>
              <a:t>Estos son solo ejemplos de algunos lenguajes de programación y las herramientas disponibles para trabajar con SQL. La capacidad de interactuar con bases de datos SQL es fundamental para la mayoría de los lenguajes de programación modernos, y hay una amplia variedad de herramientas disponibles, desde bibliotecas de bajo nivel que ejecutan SQL directamente hasta ORMs de alto nivel que abstraen gran parte del SQL y proporcionan una interfaz orientada a objetos.</a:t>
            </a:r>
            <a:endParaRPr/>
          </a:p>
        </p:txBody>
      </p:sp>
      <p:sp>
        <p:nvSpPr>
          <p:cNvPr id="132" name="Google Shape;132;p20"/>
          <p:cNvSpPr txBox="1"/>
          <p:nvPr>
            <p:ph type="title"/>
          </p:nvPr>
        </p:nvSpPr>
        <p:spPr>
          <a:xfrm>
            <a:off x="729450" y="546050"/>
            <a:ext cx="81258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Integrando SQL con otros lenguajes de programación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727650" y="54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Índice</a:t>
            </a:r>
            <a:endParaRPr/>
          </a:p>
        </p:txBody>
      </p:sp>
      <p:sp>
        <p:nvSpPr>
          <p:cNvPr id="138" name="Google Shape;138;p21"/>
          <p:cNvSpPr txBox="1"/>
          <p:nvPr/>
        </p:nvSpPr>
        <p:spPr>
          <a:xfrm>
            <a:off x="129775" y="1539225"/>
            <a:ext cx="7688100" cy="3255300"/>
          </a:xfrm>
          <a:prstGeom prst="rect">
            <a:avLst/>
          </a:prstGeom>
          <a:noFill/>
          <a:ln>
            <a:noFill/>
          </a:ln>
        </p:spPr>
        <p:txBody>
          <a:bodyPr anchorCtr="0" anchor="t" bIns="91425" lIns="91425" spcFirstLastPara="1" rIns="91425" wrap="square" tIns="91425">
            <a:normAutofit/>
          </a:bodyPr>
          <a:lstStyle/>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Introducción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El uso externo del SQL en otros lenguages de programación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SQL utilizando Python</a:t>
            </a:r>
            <a:endParaRPr sz="1600">
              <a:solidFill>
                <a:srgbClr val="595959"/>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727650" y="5622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Los bondades Python en un RDMBS </a:t>
            </a:r>
            <a:endParaRPr/>
          </a:p>
        </p:txBody>
      </p:sp>
      <p:sp>
        <p:nvSpPr>
          <p:cNvPr id="144" name="Google Shape;144;p22"/>
          <p:cNvSpPr txBox="1"/>
          <p:nvPr>
            <p:ph idx="1" type="body"/>
          </p:nvPr>
        </p:nvSpPr>
        <p:spPr>
          <a:xfrm>
            <a:off x="729450" y="1599250"/>
            <a:ext cx="7688700" cy="3366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419" sz="1200">
                <a:solidFill>
                  <a:srgbClr val="374151"/>
                </a:solidFill>
                <a:latin typeface="Roboto"/>
                <a:ea typeface="Roboto"/>
                <a:cs typeface="Roboto"/>
                <a:sym typeface="Roboto"/>
              </a:rPr>
              <a:t>Utilizar Python para trabajar con RDBMS (Sistemas de Gestión de Bases de Datos Relacionales) ofrece varias ventajas que enriquecen y facilitan el proceso de gestión y análisis de datos. Aquí te presento algunas de las principales riquezas de combinar Python con RDBMS:</a:t>
            </a:r>
            <a:endParaRPr sz="1200">
              <a:solidFill>
                <a:srgbClr val="374151"/>
              </a:solidFill>
              <a:latin typeface="Roboto"/>
              <a:ea typeface="Roboto"/>
              <a:cs typeface="Roboto"/>
              <a:sym typeface="Roboto"/>
            </a:endParaRPr>
          </a:p>
          <a:p>
            <a:pPr indent="-228600" lvl="0" marL="457200" rtl="0" algn="l">
              <a:spcBef>
                <a:spcPts val="1500"/>
              </a:spcBef>
              <a:spcAft>
                <a:spcPts val="0"/>
              </a:spcAft>
              <a:buClr>
                <a:srgbClr val="374151"/>
              </a:buClr>
              <a:buSzPct val="100000"/>
              <a:buFont typeface="Roboto"/>
              <a:buNone/>
            </a:pPr>
            <a:r>
              <a:rPr b="1" lang="es-419" sz="1200">
                <a:solidFill>
                  <a:srgbClr val="374151"/>
                </a:solidFill>
                <a:latin typeface="Roboto"/>
                <a:ea typeface="Roboto"/>
                <a:cs typeface="Roboto"/>
                <a:sym typeface="Roboto"/>
              </a:rPr>
              <a:t>Versatilidad</a:t>
            </a:r>
            <a:r>
              <a:rPr lang="es-419" sz="1200">
                <a:solidFill>
                  <a:srgbClr val="374151"/>
                </a:solidFill>
                <a:latin typeface="Roboto"/>
                <a:ea typeface="Roboto"/>
                <a:cs typeface="Roboto"/>
                <a:sym typeface="Roboto"/>
              </a:rPr>
              <a:t>: Python es un lenguaje de propósito general que se puede utilizar en una amplia variedad de aplicaciones, desde desarrollo web hasta inteligencia artificial. Al integrar RDBMS con Python, puedes construir aplicaciones completas que aprovechen tanto el poder de las bases de datos relacionales como la versatilidad de Python.</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ct val="100000"/>
              <a:buFont typeface="Roboto"/>
              <a:buNone/>
            </a:pPr>
            <a:r>
              <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ct val="100000"/>
              <a:buFont typeface="Roboto"/>
              <a:buNone/>
            </a:pPr>
            <a:r>
              <a:rPr b="1" lang="es-419" sz="1200">
                <a:solidFill>
                  <a:srgbClr val="374151"/>
                </a:solidFill>
                <a:latin typeface="Roboto"/>
                <a:ea typeface="Roboto"/>
                <a:cs typeface="Roboto"/>
                <a:sym typeface="Roboto"/>
              </a:rPr>
              <a:t>Facilidad de Uso</a:t>
            </a:r>
            <a:r>
              <a:rPr lang="es-419" sz="1200">
                <a:solidFill>
                  <a:srgbClr val="374151"/>
                </a:solidFill>
                <a:latin typeface="Roboto"/>
                <a:ea typeface="Roboto"/>
                <a:cs typeface="Roboto"/>
                <a:sym typeface="Roboto"/>
              </a:rPr>
              <a:t>: Python es conocido por su sintaxis clara y legible, lo que hace que el proceso de escribir, leer y mantener código sea más sencillo.</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ct val="100000"/>
              <a:buFont typeface="Roboto"/>
              <a:buNone/>
            </a:pPr>
            <a:r>
              <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ct val="100000"/>
              <a:buFont typeface="Roboto"/>
              <a:buNone/>
            </a:pPr>
            <a:r>
              <a:rPr b="1" lang="es-419" sz="1200">
                <a:solidFill>
                  <a:srgbClr val="374151"/>
                </a:solidFill>
                <a:latin typeface="Roboto"/>
                <a:ea typeface="Roboto"/>
                <a:cs typeface="Roboto"/>
                <a:sym typeface="Roboto"/>
              </a:rPr>
              <a:t>Bibliotecas de Análisis de Datos</a:t>
            </a:r>
            <a:r>
              <a:rPr lang="es-419" sz="1200">
                <a:solidFill>
                  <a:srgbClr val="374151"/>
                </a:solidFill>
                <a:latin typeface="Roboto"/>
                <a:ea typeface="Roboto"/>
                <a:cs typeface="Roboto"/>
                <a:sym typeface="Roboto"/>
              </a:rPr>
              <a:t>: Python cuenta con bibliotecas como Pandas, NumPy y SciPy que facilitan el análisis y manipulación de datos. Puedes extraer datos de un RDBMS directamente a un DataFrame de Pandas y aprovechar todas sus herramientas.</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ct val="100000"/>
              <a:buFont typeface="Roboto"/>
              <a:buNone/>
            </a:pPr>
            <a:r>
              <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ct val="100000"/>
              <a:buFont typeface="Roboto"/>
              <a:buNone/>
            </a:pPr>
            <a:r>
              <a:rPr b="1" lang="es-419" sz="1200">
                <a:solidFill>
                  <a:srgbClr val="374151"/>
                </a:solidFill>
                <a:latin typeface="Roboto"/>
                <a:ea typeface="Roboto"/>
                <a:cs typeface="Roboto"/>
                <a:sym typeface="Roboto"/>
              </a:rPr>
              <a:t>Integración con Herramientas de Visualización</a:t>
            </a:r>
            <a:r>
              <a:rPr lang="es-419" sz="1200">
                <a:solidFill>
                  <a:srgbClr val="374151"/>
                </a:solidFill>
                <a:latin typeface="Roboto"/>
                <a:ea typeface="Roboto"/>
                <a:cs typeface="Roboto"/>
                <a:sym typeface="Roboto"/>
              </a:rPr>
              <a:t>: Bibliotecas como Matplotlib, Seaborn y Plotly permiten visualizar datos de manera efectiva. Al combinar Python con RDBMS, puedes crear visualizaciones dinámicas basadas en datos en tiempo real.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idx="1" type="body"/>
          </p:nvPr>
        </p:nvSpPr>
        <p:spPr>
          <a:xfrm>
            <a:off x="729450" y="1523600"/>
            <a:ext cx="7688700" cy="3452400"/>
          </a:xfrm>
          <a:prstGeom prst="rect">
            <a:avLst/>
          </a:prstGeom>
        </p:spPr>
        <p:txBody>
          <a:bodyPr anchorCtr="0" anchor="t" bIns="91425" lIns="91425" spcFirstLastPara="1" rIns="91425" wrap="square" tIns="91425">
            <a:normAutofit lnSpcReduction="10000"/>
          </a:bodyPr>
          <a:lstStyle/>
          <a:p>
            <a:pPr indent="-228600" lvl="0" marL="457200" rtl="0" algn="l">
              <a:spcBef>
                <a:spcPts val="1500"/>
              </a:spcBef>
              <a:spcAft>
                <a:spcPts val="0"/>
              </a:spcAft>
              <a:buClr>
                <a:srgbClr val="374151"/>
              </a:buClr>
              <a:buSzPts val="1200"/>
              <a:buFont typeface="Roboto"/>
              <a:buNone/>
            </a:pPr>
            <a:r>
              <a:rPr b="1" lang="es-419" sz="1200">
                <a:solidFill>
                  <a:srgbClr val="374151"/>
                </a:solidFill>
                <a:latin typeface="Roboto"/>
                <a:ea typeface="Roboto"/>
                <a:cs typeface="Roboto"/>
                <a:sym typeface="Roboto"/>
              </a:rPr>
              <a:t>ORMs (Object-Relational Mapping)</a:t>
            </a:r>
            <a:r>
              <a:rPr lang="es-419" sz="1200">
                <a:solidFill>
                  <a:srgbClr val="374151"/>
                </a:solidFill>
                <a:latin typeface="Roboto"/>
                <a:ea typeface="Roboto"/>
                <a:cs typeface="Roboto"/>
                <a:sym typeface="Roboto"/>
              </a:rPr>
              <a:t>: Python tiene varios ORMs, como SQLAlchemy y Django ORM, que permiten interactuar con bases de datos relacionales de manera más "pythonica", integrando muchas de las operaciones SQL.</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ts val="1200"/>
              <a:buFont typeface="Roboto"/>
              <a:buNone/>
            </a:pPr>
            <a:r>
              <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ts val="1200"/>
              <a:buFont typeface="Roboto"/>
              <a:buNone/>
            </a:pPr>
            <a:r>
              <a:rPr b="1" lang="es-419" sz="1200">
                <a:solidFill>
                  <a:srgbClr val="374151"/>
                </a:solidFill>
                <a:latin typeface="Roboto"/>
                <a:ea typeface="Roboto"/>
                <a:cs typeface="Roboto"/>
                <a:sym typeface="Roboto"/>
              </a:rPr>
              <a:t>Flexibilidad con Diferentes RDBMS</a:t>
            </a:r>
            <a:r>
              <a:rPr lang="es-419" sz="1200">
                <a:solidFill>
                  <a:srgbClr val="374151"/>
                </a:solidFill>
                <a:latin typeface="Roboto"/>
                <a:ea typeface="Roboto"/>
                <a:cs typeface="Roboto"/>
                <a:sym typeface="Roboto"/>
              </a:rPr>
              <a:t>: Con Python, puedes interactuar con múltiples RDBMS (como PostgreSQL, MySQL, SQLite, Oracle, etc.) usando la misma lógica y código base con mínimas modificaciones.</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ts val="1200"/>
              <a:buFont typeface="Roboto"/>
              <a:buNone/>
            </a:pPr>
            <a:r>
              <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ts val="1200"/>
              <a:buFont typeface="Roboto"/>
              <a:buNone/>
            </a:pPr>
            <a:r>
              <a:rPr b="1" lang="es-419" sz="1200">
                <a:solidFill>
                  <a:srgbClr val="374151"/>
                </a:solidFill>
                <a:latin typeface="Roboto"/>
                <a:ea typeface="Roboto"/>
                <a:cs typeface="Roboto"/>
                <a:sym typeface="Roboto"/>
              </a:rPr>
              <a:t>Automatización</a:t>
            </a:r>
            <a:r>
              <a:rPr lang="es-419" sz="1200">
                <a:solidFill>
                  <a:srgbClr val="374151"/>
                </a:solidFill>
                <a:latin typeface="Roboto"/>
                <a:ea typeface="Roboto"/>
                <a:cs typeface="Roboto"/>
                <a:sym typeface="Roboto"/>
              </a:rPr>
              <a:t>: Python es excelente para escribir scripts y automatizar tareas repetitivas relacionadas con bases de datos, como limpieza de datos, migraciones y backups.</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ts val="1200"/>
              <a:buFont typeface="Roboto"/>
              <a:buNone/>
            </a:pPr>
            <a:r>
              <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ts val="1200"/>
              <a:buFont typeface="Roboto"/>
              <a:buNone/>
            </a:pPr>
            <a:r>
              <a:rPr b="1" lang="es-419" sz="1200">
                <a:solidFill>
                  <a:srgbClr val="374151"/>
                </a:solidFill>
                <a:latin typeface="Roboto"/>
                <a:ea typeface="Roboto"/>
                <a:cs typeface="Roboto"/>
                <a:sym typeface="Roboto"/>
              </a:rPr>
              <a:t>Ecosistema Rico</a:t>
            </a:r>
            <a:r>
              <a:rPr lang="es-419" sz="1200">
                <a:solidFill>
                  <a:srgbClr val="374151"/>
                </a:solidFill>
                <a:latin typeface="Roboto"/>
                <a:ea typeface="Roboto"/>
                <a:cs typeface="Roboto"/>
                <a:sym typeface="Roboto"/>
              </a:rPr>
              <a:t>: La comunidad Python ha desarrollado una amplia variedad de paquetes y herramientas para facilitar la conexión, consulta y administración de bases de datos.</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ts val="1200"/>
              <a:buFont typeface="Roboto"/>
              <a:buNone/>
            </a:pPr>
            <a:r>
              <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ts val="1200"/>
              <a:buFont typeface="Roboto"/>
              <a:buNone/>
            </a:pPr>
            <a:r>
              <a:rPr b="1" lang="es-419" sz="1200">
                <a:solidFill>
                  <a:srgbClr val="374151"/>
                </a:solidFill>
                <a:latin typeface="Roboto"/>
                <a:ea typeface="Roboto"/>
                <a:cs typeface="Roboto"/>
                <a:sym typeface="Roboto"/>
              </a:rPr>
              <a:t>Portabilidad</a:t>
            </a:r>
            <a:r>
              <a:rPr lang="es-419" sz="1200">
                <a:solidFill>
                  <a:srgbClr val="374151"/>
                </a:solidFill>
                <a:latin typeface="Roboto"/>
                <a:ea typeface="Roboto"/>
                <a:cs typeface="Roboto"/>
                <a:sym typeface="Roboto"/>
              </a:rPr>
              <a:t>: Los scripts y aplicaciones de Python generalmente son portables entre diferentes sistemas operativos y plataformas.</a:t>
            </a:r>
            <a:endParaRPr/>
          </a:p>
        </p:txBody>
      </p:sp>
      <p:sp>
        <p:nvSpPr>
          <p:cNvPr id="150" name="Google Shape;150;p23"/>
          <p:cNvSpPr txBox="1"/>
          <p:nvPr>
            <p:ph type="title"/>
          </p:nvPr>
        </p:nvSpPr>
        <p:spPr>
          <a:xfrm>
            <a:off x="727650" y="5622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Los bondades Python en un RDMBS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ph idx="1" type="body"/>
          </p:nvPr>
        </p:nvSpPr>
        <p:spPr>
          <a:xfrm>
            <a:off x="729450" y="1437150"/>
            <a:ext cx="8109600" cy="3403800"/>
          </a:xfrm>
          <a:prstGeom prst="rect">
            <a:avLst/>
          </a:prstGeom>
        </p:spPr>
        <p:txBody>
          <a:bodyPr anchorCtr="0" anchor="t" bIns="91425" lIns="91425" spcFirstLastPara="1" rIns="91425" wrap="square" tIns="91425">
            <a:normAutofit/>
          </a:bodyPr>
          <a:lstStyle/>
          <a:p>
            <a:pPr indent="-228600" lvl="0" marL="457200" rtl="0" algn="l">
              <a:spcBef>
                <a:spcPts val="1500"/>
              </a:spcBef>
              <a:spcAft>
                <a:spcPts val="0"/>
              </a:spcAft>
              <a:buClr>
                <a:srgbClr val="374151"/>
              </a:buClr>
              <a:buSzPts val="1200"/>
              <a:buFont typeface="Roboto"/>
              <a:buNone/>
            </a:pPr>
            <a:r>
              <a:rPr b="1" lang="es-419" sz="1200">
                <a:solidFill>
                  <a:srgbClr val="374151"/>
                </a:solidFill>
                <a:latin typeface="Roboto"/>
                <a:ea typeface="Roboto"/>
                <a:cs typeface="Roboto"/>
                <a:sym typeface="Roboto"/>
              </a:rPr>
              <a:t>Integración con Otras Tecnologías</a:t>
            </a:r>
            <a:r>
              <a:rPr lang="es-419" sz="1200">
                <a:solidFill>
                  <a:srgbClr val="374151"/>
                </a:solidFill>
                <a:latin typeface="Roboto"/>
                <a:ea typeface="Roboto"/>
                <a:cs typeface="Roboto"/>
                <a:sym typeface="Roboto"/>
              </a:rPr>
              <a:t>: Python se integra bien con otras tecnologías y servicios, como sistemas de bases de datos NoSQL, plataformas en la nube, sistemas de colas y más.</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ts val="1200"/>
              <a:buFont typeface="Roboto"/>
              <a:buNone/>
            </a:pPr>
            <a:r>
              <a:t/>
            </a:r>
            <a:endParaRPr sz="1200">
              <a:solidFill>
                <a:srgbClr val="374151"/>
              </a:solidFill>
              <a:latin typeface="Roboto"/>
              <a:ea typeface="Roboto"/>
              <a:cs typeface="Roboto"/>
              <a:sym typeface="Roboto"/>
            </a:endParaRPr>
          </a:p>
          <a:p>
            <a:pPr indent="-228600" lvl="0" marL="457200" rtl="0" algn="l">
              <a:spcBef>
                <a:spcPts val="0"/>
              </a:spcBef>
              <a:spcAft>
                <a:spcPts val="0"/>
              </a:spcAft>
              <a:buClr>
                <a:srgbClr val="374151"/>
              </a:buClr>
              <a:buSzPts val="1200"/>
              <a:buFont typeface="Roboto"/>
              <a:buNone/>
            </a:pPr>
            <a:r>
              <a:rPr b="1" lang="es-419" sz="1200">
                <a:solidFill>
                  <a:srgbClr val="374151"/>
                </a:solidFill>
                <a:latin typeface="Roboto"/>
                <a:ea typeface="Roboto"/>
                <a:cs typeface="Roboto"/>
                <a:sym typeface="Roboto"/>
              </a:rPr>
              <a:t>Desarrollo Rápido</a:t>
            </a:r>
            <a:r>
              <a:rPr lang="es-419" sz="1200">
                <a:solidFill>
                  <a:srgbClr val="374151"/>
                </a:solidFill>
                <a:latin typeface="Roboto"/>
                <a:ea typeface="Roboto"/>
                <a:cs typeface="Roboto"/>
                <a:sym typeface="Roboto"/>
              </a:rPr>
              <a:t>: La naturaleza interpretada de Python y su amplia biblioteca estándar permiten un desarrollo más rápido en comparación con otros lenguajes, lo que es útil para prototipos y aplicaciones de bases de datos.</a:t>
            </a:r>
            <a:endParaRPr sz="1200">
              <a:solidFill>
                <a:srgbClr val="374151"/>
              </a:solidFill>
              <a:latin typeface="Roboto"/>
              <a:ea typeface="Roboto"/>
              <a:cs typeface="Roboto"/>
              <a:sym typeface="Roboto"/>
            </a:endParaRPr>
          </a:p>
          <a:p>
            <a:pPr indent="0" lvl="0" marL="0" rtl="0" algn="l">
              <a:spcBef>
                <a:spcPts val="1500"/>
              </a:spcBef>
              <a:spcAft>
                <a:spcPts val="0"/>
              </a:spcAft>
              <a:buNone/>
            </a:pPr>
            <a:r>
              <a:rPr lang="es-419" sz="1200">
                <a:solidFill>
                  <a:srgbClr val="374151"/>
                </a:solidFill>
                <a:latin typeface="Roboto"/>
                <a:ea typeface="Roboto"/>
                <a:cs typeface="Roboto"/>
                <a:sym typeface="Roboto"/>
              </a:rPr>
              <a:t>En resumen, la combinación de Python con RDBMS no solo facilita la gestión y consulta de datos sino que también permite análisis avanzados, visualizaciones y la construcción de aplicaciones completas que aprovechan lo mejor de ambos mundos.</a:t>
            </a:r>
            <a:endParaRPr sz="1200">
              <a:solidFill>
                <a:srgbClr val="374151"/>
              </a:solidFill>
              <a:latin typeface="Roboto"/>
              <a:ea typeface="Roboto"/>
              <a:cs typeface="Roboto"/>
              <a:sym typeface="Roboto"/>
            </a:endParaRPr>
          </a:p>
          <a:p>
            <a:pPr indent="0" lvl="0" marL="0" rtl="0" algn="l">
              <a:spcBef>
                <a:spcPts val="0"/>
              </a:spcBef>
              <a:spcAft>
                <a:spcPts val="1200"/>
              </a:spcAft>
              <a:buNone/>
            </a:pPr>
            <a:r>
              <a:t/>
            </a:r>
            <a:endParaRPr/>
          </a:p>
        </p:txBody>
      </p:sp>
      <p:sp>
        <p:nvSpPr>
          <p:cNvPr id="156" name="Google Shape;156;p24"/>
          <p:cNvSpPr txBox="1"/>
          <p:nvPr>
            <p:ph type="title"/>
          </p:nvPr>
        </p:nvSpPr>
        <p:spPr>
          <a:xfrm>
            <a:off x="727650" y="5622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Los bondades Python en un RDMBS </a:t>
            </a:r>
            <a:endParaRPr/>
          </a:p>
        </p:txBody>
      </p:sp>
      <p:pic>
        <p:nvPicPr>
          <p:cNvPr id="157" name="Google Shape;157;p24"/>
          <p:cNvPicPr preferRelativeResize="0"/>
          <p:nvPr/>
        </p:nvPicPr>
        <p:blipFill>
          <a:blip r:embed="rId3">
            <a:alphaModFix/>
          </a:blip>
          <a:stretch>
            <a:fillRect/>
          </a:stretch>
        </p:blipFill>
        <p:spPr>
          <a:xfrm>
            <a:off x="5418825" y="3545325"/>
            <a:ext cx="2952750" cy="1543050"/>
          </a:xfrm>
          <a:prstGeom prst="rect">
            <a:avLst/>
          </a:prstGeom>
          <a:noFill/>
          <a:ln>
            <a:noFill/>
          </a:ln>
        </p:spPr>
      </p:pic>
      <p:pic>
        <p:nvPicPr>
          <p:cNvPr id="158" name="Google Shape;158;p24"/>
          <p:cNvPicPr preferRelativeResize="0"/>
          <p:nvPr/>
        </p:nvPicPr>
        <p:blipFill>
          <a:blip r:embed="rId4">
            <a:alphaModFix/>
          </a:blip>
          <a:stretch>
            <a:fillRect/>
          </a:stretch>
        </p:blipFill>
        <p:spPr>
          <a:xfrm>
            <a:off x="1229375" y="3733350"/>
            <a:ext cx="2512726" cy="1312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727650" y="54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Índice</a:t>
            </a:r>
            <a:endParaRPr/>
          </a:p>
        </p:txBody>
      </p:sp>
      <p:sp>
        <p:nvSpPr>
          <p:cNvPr id="164" name="Google Shape;164;p25"/>
          <p:cNvSpPr txBox="1"/>
          <p:nvPr/>
        </p:nvSpPr>
        <p:spPr>
          <a:xfrm>
            <a:off x="129775" y="1539225"/>
            <a:ext cx="7688100" cy="3255300"/>
          </a:xfrm>
          <a:prstGeom prst="rect">
            <a:avLst/>
          </a:prstGeom>
          <a:noFill/>
          <a:ln>
            <a:noFill/>
          </a:ln>
        </p:spPr>
        <p:txBody>
          <a:bodyPr anchorCtr="0" anchor="t" bIns="91425" lIns="91425" spcFirstLastPara="1" rIns="91425" wrap="square" tIns="91425">
            <a:normAutofit/>
          </a:bodyPr>
          <a:lstStyle/>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Introducción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El uso externo del SQL en otros lenguages de programación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SQL utilizando Python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Visualizar BdD con Python</a:t>
            </a:r>
            <a:endParaRPr sz="1600">
              <a:solidFill>
                <a:srgbClr val="595959"/>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0" name="Google Shape;170;p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1" name="Google Shape;171;p26"/>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5352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Consultas Python</a:t>
            </a:r>
            <a:endParaRPr/>
          </a:p>
        </p:txBody>
      </p:sp>
      <p:sp>
        <p:nvSpPr>
          <p:cNvPr id="177" name="Google Shape;177;p27"/>
          <p:cNvSpPr txBox="1"/>
          <p:nvPr>
            <p:ph idx="1" type="body"/>
          </p:nvPr>
        </p:nvSpPr>
        <p:spPr>
          <a:xfrm>
            <a:off x="729450" y="1356125"/>
            <a:ext cx="7688700" cy="282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200">
                <a:solidFill>
                  <a:srgbClr val="374151"/>
                </a:solidFill>
                <a:latin typeface="Roboto"/>
                <a:ea typeface="Roboto"/>
                <a:cs typeface="Roboto"/>
                <a:sym typeface="Roboto"/>
              </a:rPr>
              <a:t>Realizar consultas a bases de datos desde Python es una operación común, especialmente cuando se trata de análisis de datos o desarrollo de aplicaciones web. Aquí te presento un resumen de cómo realizar consultas a bases de datos populares utilizando Python:</a:t>
            </a:r>
            <a:endParaRPr sz="1200">
              <a:solidFill>
                <a:srgbClr val="374151"/>
              </a:solidFill>
              <a:latin typeface="Roboto"/>
              <a:ea typeface="Roboto"/>
              <a:cs typeface="Roboto"/>
              <a:sym typeface="Roboto"/>
            </a:endParaRPr>
          </a:p>
          <a:p>
            <a:pPr indent="0" lvl="0" marL="0" rtl="0" algn="l">
              <a:spcBef>
                <a:spcPts val="15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pic>
        <p:nvPicPr>
          <p:cNvPr id="178" name="Google Shape;178;p27"/>
          <p:cNvPicPr preferRelativeResize="0"/>
          <p:nvPr/>
        </p:nvPicPr>
        <p:blipFill>
          <a:blip r:embed="rId3">
            <a:alphaModFix/>
          </a:blip>
          <a:stretch>
            <a:fillRect/>
          </a:stretch>
        </p:blipFill>
        <p:spPr>
          <a:xfrm>
            <a:off x="842800" y="2260125"/>
            <a:ext cx="3234100" cy="2821799"/>
          </a:xfrm>
          <a:prstGeom prst="rect">
            <a:avLst/>
          </a:prstGeom>
          <a:noFill/>
          <a:ln>
            <a:noFill/>
          </a:ln>
        </p:spPr>
      </p:pic>
      <p:pic>
        <p:nvPicPr>
          <p:cNvPr id="179" name="Google Shape;179;p27"/>
          <p:cNvPicPr preferRelativeResize="0"/>
          <p:nvPr/>
        </p:nvPicPr>
        <p:blipFill>
          <a:blip r:embed="rId4">
            <a:alphaModFix/>
          </a:blip>
          <a:stretch>
            <a:fillRect/>
          </a:stretch>
        </p:blipFill>
        <p:spPr>
          <a:xfrm>
            <a:off x="5593120" y="2249484"/>
            <a:ext cx="3193675" cy="284309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729450" y="5352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Consultas Python</a:t>
            </a:r>
            <a:endParaRPr/>
          </a:p>
        </p:txBody>
      </p:sp>
      <p:pic>
        <p:nvPicPr>
          <p:cNvPr id="185" name="Google Shape;185;p28"/>
          <p:cNvPicPr preferRelativeResize="0"/>
          <p:nvPr/>
        </p:nvPicPr>
        <p:blipFill>
          <a:blip r:embed="rId3">
            <a:alphaModFix/>
          </a:blip>
          <a:stretch>
            <a:fillRect/>
          </a:stretch>
        </p:blipFill>
        <p:spPr>
          <a:xfrm>
            <a:off x="729451" y="1383125"/>
            <a:ext cx="3915000" cy="3499925"/>
          </a:xfrm>
          <a:prstGeom prst="rect">
            <a:avLst/>
          </a:prstGeom>
          <a:noFill/>
          <a:ln>
            <a:noFill/>
          </a:ln>
        </p:spPr>
      </p:pic>
      <p:pic>
        <p:nvPicPr>
          <p:cNvPr id="186" name="Google Shape;186;p28"/>
          <p:cNvPicPr preferRelativeResize="0"/>
          <p:nvPr/>
        </p:nvPicPr>
        <p:blipFill>
          <a:blip r:embed="rId4">
            <a:alphaModFix/>
          </a:blip>
          <a:stretch>
            <a:fillRect/>
          </a:stretch>
        </p:blipFill>
        <p:spPr>
          <a:xfrm>
            <a:off x="4899500" y="1356100"/>
            <a:ext cx="4101625" cy="3499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727650" y="54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Índice</a:t>
            </a:r>
            <a:endParaRPr/>
          </a:p>
        </p:txBody>
      </p:sp>
      <p:sp>
        <p:nvSpPr>
          <p:cNvPr id="192" name="Google Shape;192;p29"/>
          <p:cNvSpPr txBox="1"/>
          <p:nvPr/>
        </p:nvSpPr>
        <p:spPr>
          <a:xfrm>
            <a:off x="129775" y="1539225"/>
            <a:ext cx="7688100" cy="3255300"/>
          </a:xfrm>
          <a:prstGeom prst="rect">
            <a:avLst/>
          </a:prstGeom>
          <a:noFill/>
          <a:ln>
            <a:noFill/>
          </a:ln>
        </p:spPr>
        <p:txBody>
          <a:bodyPr anchorCtr="0" anchor="t" bIns="91425" lIns="91425" spcFirstLastPara="1" rIns="91425" wrap="square" tIns="91425">
            <a:normAutofit/>
          </a:bodyPr>
          <a:lstStyle/>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Introducción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El uso externo del SQL en otros lenguages de programación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SQL utilizando Python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Visualizar BdD con Python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Crear, Insertar y otros desde Python</a:t>
            </a:r>
            <a:endParaRPr sz="1600">
              <a:solidFill>
                <a:srgbClr val="595959"/>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729450" y="556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Modificar y leer desde Python</a:t>
            </a:r>
            <a:endParaRPr/>
          </a:p>
        </p:txBody>
      </p:sp>
      <p:sp>
        <p:nvSpPr>
          <p:cNvPr id="198" name="Google Shape;198;p30"/>
          <p:cNvSpPr txBox="1"/>
          <p:nvPr>
            <p:ph idx="1" type="body"/>
          </p:nvPr>
        </p:nvSpPr>
        <p:spPr>
          <a:xfrm>
            <a:off x="727650" y="1441200"/>
            <a:ext cx="8235600" cy="1854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200">
                <a:solidFill>
                  <a:srgbClr val="374151"/>
                </a:solidFill>
                <a:latin typeface="Roboto"/>
                <a:ea typeface="Roboto"/>
                <a:cs typeface="Roboto"/>
                <a:sym typeface="Roboto"/>
              </a:rPr>
              <a:t>Realizar operaciones CRUD (Create, Read, Update, Delete) en una base de datos desde Python es una tarea fundamental en muchas aplicaciones y análisis de datos. A continuación, te mostraré cómo realizar estas operaciones usando el paquete </a:t>
            </a:r>
            <a:r>
              <a:rPr lang="es-419" sz="950">
                <a:solidFill>
                  <a:srgbClr val="188038"/>
                </a:solidFill>
                <a:latin typeface="Courier New"/>
                <a:ea typeface="Courier New"/>
                <a:cs typeface="Courier New"/>
                <a:sym typeface="Courier New"/>
              </a:rPr>
              <a:t>sqlite3</a:t>
            </a:r>
            <a:r>
              <a:rPr lang="es-419" sz="1200">
                <a:solidFill>
                  <a:srgbClr val="374151"/>
                </a:solidFill>
                <a:latin typeface="Roboto"/>
                <a:ea typeface="Roboto"/>
                <a:cs typeface="Roboto"/>
                <a:sym typeface="Roboto"/>
              </a:rPr>
              <a:t> para SQLite como ejemplo. Estos conceptos se pueden adaptar fácilmente a otros sistemas de gestión de bases de datos (RDBMS) ajustando la conexión y la sintaxis SQL según sea necesario.</a:t>
            </a:r>
            <a:endParaRPr/>
          </a:p>
        </p:txBody>
      </p:sp>
      <p:pic>
        <p:nvPicPr>
          <p:cNvPr id="199" name="Google Shape;199;p30"/>
          <p:cNvPicPr preferRelativeResize="0"/>
          <p:nvPr/>
        </p:nvPicPr>
        <p:blipFill>
          <a:blip r:embed="rId3">
            <a:alphaModFix/>
          </a:blip>
          <a:stretch>
            <a:fillRect/>
          </a:stretch>
        </p:blipFill>
        <p:spPr>
          <a:xfrm>
            <a:off x="893925" y="2490725"/>
            <a:ext cx="2698951" cy="2587850"/>
          </a:xfrm>
          <a:prstGeom prst="rect">
            <a:avLst/>
          </a:prstGeom>
          <a:noFill/>
          <a:ln>
            <a:noFill/>
          </a:ln>
        </p:spPr>
      </p:pic>
      <p:pic>
        <p:nvPicPr>
          <p:cNvPr id="200" name="Google Shape;200;p30"/>
          <p:cNvPicPr preferRelativeResize="0"/>
          <p:nvPr/>
        </p:nvPicPr>
        <p:blipFill>
          <a:blip r:embed="rId4">
            <a:alphaModFix/>
          </a:blip>
          <a:stretch>
            <a:fillRect/>
          </a:stretch>
        </p:blipFill>
        <p:spPr>
          <a:xfrm>
            <a:off x="4486296" y="2490725"/>
            <a:ext cx="3378826" cy="23675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729450" y="556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Modificar y leer desde Python</a:t>
            </a:r>
            <a:endParaRPr/>
          </a:p>
        </p:txBody>
      </p:sp>
      <p:pic>
        <p:nvPicPr>
          <p:cNvPr id="206" name="Google Shape;206;p31"/>
          <p:cNvPicPr preferRelativeResize="0"/>
          <p:nvPr/>
        </p:nvPicPr>
        <p:blipFill>
          <a:blip r:embed="rId3">
            <a:alphaModFix/>
          </a:blip>
          <a:stretch>
            <a:fillRect/>
          </a:stretch>
        </p:blipFill>
        <p:spPr>
          <a:xfrm>
            <a:off x="174000" y="1426350"/>
            <a:ext cx="3137951" cy="3614500"/>
          </a:xfrm>
          <a:prstGeom prst="rect">
            <a:avLst/>
          </a:prstGeom>
          <a:noFill/>
          <a:ln>
            <a:noFill/>
          </a:ln>
        </p:spPr>
      </p:pic>
      <p:pic>
        <p:nvPicPr>
          <p:cNvPr id="207" name="Google Shape;207;p31"/>
          <p:cNvPicPr preferRelativeResize="0"/>
          <p:nvPr/>
        </p:nvPicPr>
        <p:blipFill>
          <a:blip r:embed="rId4">
            <a:alphaModFix/>
          </a:blip>
          <a:stretch>
            <a:fillRect/>
          </a:stretch>
        </p:blipFill>
        <p:spPr>
          <a:xfrm>
            <a:off x="3507550" y="1439863"/>
            <a:ext cx="2959649" cy="3587476"/>
          </a:xfrm>
          <a:prstGeom prst="rect">
            <a:avLst/>
          </a:prstGeom>
          <a:noFill/>
          <a:ln>
            <a:noFill/>
          </a:ln>
        </p:spPr>
      </p:pic>
      <p:pic>
        <p:nvPicPr>
          <p:cNvPr id="208" name="Google Shape;208;p31"/>
          <p:cNvPicPr preferRelativeResize="0"/>
          <p:nvPr/>
        </p:nvPicPr>
        <p:blipFill>
          <a:blip r:embed="rId5">
            <a:alphaModFix/>
          </a:blip>
          <a:stretch>
            <a:fillRect/>
          </a:stretch>
        </p:blipFill>
        <p:spPr>
          <a:xfrm>
            <a:off x="6617650" y="1439875"/>
            <a:ext cx="2415899" cy="3587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2"/>
          <p:cNvSpPr txBox="1"/>
          <p:nvPr>
            <p:ph type="title"/>
          </p:nvPr>
        </p:nvSpPr>
        <p:spPr>
          <a:xfrm>
            <a:off x="727650" y="546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Índice</a:t>
            </a:r>
            <a:endParaRPr/>
          </a:p>
        </p:txBody>
      </p:sp>
      <p:sp>
        <p:nvSpPr>
          <p:cNvPr id="214" name="Google Shape;214;p32"/>
          <p:cNvSpPr txBox="1"/>
          <p:nvPr/>
        </p:nvSpPr>
        <p:spPr>
          <a:xfrm>
            <a:off x="129775" y="1539225"/>
            <a:ext cx="7688100" cy="3255300"/>
          </a:xfrm>
          <a:prstGeom prst="rect">
            <a:avLst/>
          </a:prstGeom>
          <a:noFill/>
          <a:ln>
            <a:noFill/>
          </a:ln>
        </p:spPr>
        <p:txBody>
          <a:bodyPr anchorCtr="0" anchor="t" bIns="91425" lIns="91425" spcFirstLastPara="1" rIns="91425" wrap="square" tIns="91425">
            <a:normAutofit/>
          </a:bodyPr>
          <a:lstStyle/>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Introducción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El uso externo del SQL en otros lenguages de programación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SQL utilizando Python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Visualizar BdD con Python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Crear e Insertar desde Python</a:t>
            </a:r>
            <a:endParaRPr sz="1600">
              <a:solidFill>
                <a:srgbClr val="595959"/>
              </a:solidFill>
              <a:latin typeface="Lato"/>
              <a:ea typeface="Lato"/>
              <a:cs typeface="Lato"/>
              <a:sym typeface="Lato"/>
            </a:endParaRPr>
          </a:p>
          <a:p>
            <a:pPr indent="-330200" lvl="0" marL="457200" rtl="0" algn="l">
              <a:spcBef>
                <a:spcPts val="0"/>
              </a:spcBef>
              <a:spcAft>
                <a:spcPts val="0"/>
              </a:spcAft>
              <a:buClr>
                <a:srgbClr val="595959"/>
              </a:buClr>
              <a:buSzPts val="1600"/>
              <a:buFont typeface="Lato"/>
              <a:buAutoNum type="arabicPeriod"/>
            </a:pPr>
            <a:r>
              <a:rPr lang="es-419" sz="1600">
                <a:solidFill>
                  <a:srgbClr val="595959"/>
                </a:solidFill>
                <a:latin typeface="Lato"/>
                <a:ea typeface="Lato"/>
                <a:cs typeface="Lato"/>
                <a:sym typeface="Lato"/>
              </a:rPr>
              <a:t>Actualizar o agregar nuevos casos: desde un DataFrame a una BdD</a:t>
            </a:r>
            <a:endParaRPr sz="1600">
              <a:solidFill>
                <a:srgbClr val="595959"/>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type="title"/>
          </p:nvPr>
        </p:nvSpPr>
        <p:spPr>
          <a:xfrm>
            <a:off x="727650" y="573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Insertar casos para agregar o actualizar en la BdD</a:t>
            </a:r>
            <a:endParaRPr/>
          </a:p>
        </p:txBody>
      </p:sp>
      <p:sp>
        <p:nvSpPr>
          <p:cNvPr id="220" name="Google Shape;220;p33"/>
          <p:cNvSpPr txBox="1"/>
          <p:nvPr>
            <p:ph idx="1" type="body"/>
          </p:nvPr>
        </p:nvSpPr>
        <p:spPr>
          <a:xfrm>
            <a:off x="727650" y="15061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200">
                <a:solidFill>
                  <a:srgbClr val="374151"/>
                </a:solidFill>
                <a:latin typeface="Roboto"/>
                <a:ea typeface="Roboto"/>
                <a:cs typeface="Roboto"/>
                <a:sym typeface="Roboto"/>
              </a:rPr>
              <a:t>Insertar registros desde un DataFrame de Python (usando la biblioteca </a:t>
            </a:r>
            <a:r>
              <a:rPr lang="es-419" sz="1050">
                <a:solidFill>
                  <a:srgbClr val="374151"/>
                </a:solidFill>
                <a:latin typeface="Courier New"/>
                <a:ea typeface="Courier New"/>
                <a:cs typeface="Courier New"/>
                <a:sym typeface="Courier New"/>
              </a:rPr>
              <a:t>pandas</a:t>
            </a:r>
            <a:r>
              <a:rPr lang="es-419" sz="1200">
                <a:solidFill>
                  <a:srgbClr val="374151"/>
                </a:solidFill>
                <a:latin typeface="Roboto"/>
                <a:ea typeface="Roboto"/>
                <a:cs typeface="Roboto"/>
                <a:sym typeface="Roboto"/>
              </a:rPr>
              <a:t>) en una base de datos es una tarea común. A continuación, te mostraré cómo hacerlo usando SQLite como base de datos de ejemplo, pero el proceso es similar para otros sistemas de bases de datos.</a:t>
            </a:r>
            <a:endParaRPr sz="1200">
              <a:solidFill>
                <a:srgbClr val="374151"/>
              </a:solidFill>
              <a:latin typeface="Roboto"/>
              <a:ea typeface="Roboto"/>
              <a:cs typeface="Roboto"/>
              <a:sym typeface="Roboto"/>
            </a:endParaRPr>
          </a:p>
          <a:p>
            <a:pPr indent="0" lvl="0" marL="0" rtl="0" algn="l">
              <a:spcBef>
                <a:spcPts val="15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pic>
        <p:nvPicPr>
          <p:cNvPr id="221" name="Google Shape;221;p33"/>
          <p:cNvPicPr preferRelativeResize="0"/>
          <p:nvPr/>
        </p:nvPicPr>
        <p:blipFill>
          <a:blip r:embed="rId3">
            <a:alphaModFix/>
          </a:blip>
          <a:stretch>
            <a:fillRect/>
          </a:stretch>
        </p:blipFill>
        <p:spPr>
          <a:xfrm>
            <a:off x="727650" y="2339400"/>
            <a:ext cx="4237949" cy="2637075"/>
          </a:xfrm>
          <a:prstGeom prst="rect">
            <a:avLst/>
          </a:prstGeom>
          <a:noFill/>
          <a:ln>
            <a:noFill/>
          </a:ln>
        </p:spPr>
      </p:pic>
      <p:pic>
        <p:nvPicPr>
          <p:cNvPr id="222" name="Google Shape;222;p33"/>
          <p:cNvPicPr preferRelativeResize="0"/>
          <p:nvPr/>
        </p:nvPicPr>
        <p:blipFill>
          <a:blip r:embed="rId4">
            <a:alphaModFix/>
          </a:blip>
          <a:stretch>
            <a:fillRect/>
          </a:stretch>
        </p:blipFill>
        <p:spPr>
          <a:xfrm>
            <a:off x="5185724" y="2339400"/>
            <a:ext cx="3732911" cy="26370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4"/>
          <p:cNvSpPr txBox="1"/>
          <p:nvPr>
            <p:ph idx="1" type="body"/>
          </p:nvPr>
        </p:nvSpPr>
        <p:spPr>
          <a:xfrm>
            <a:off x="729450" y="1366925"/>
            <a:ext cx="8179800" cy="3673800"/>
          </a:xfrm>
          <a:prstGeom prst="rect">
            <a:avLst/>
          </a:prstGeom>
        </p:spPr>
        <p:txBody>
          <a:bodyPr anchorCtr="0" anchor="t" bIns="91425" lIns="91425" spcFirstLastPara="1" rIns="91425" wrap="square" tIns="91425">
            <a:normAutofit/>
          </a:bodyPr>
          <a:lstStyle/>
          <a:p>
            <a:pPr indent="0" lvl="0" marL="0" rtl="0" algn="l">
              <a:lnSpc>
                <a:spcPct val="160000"/>
              </a:lnSpc>
              <a:spcBef>
                <a:spcPts val="1400"/>
              </a:spcBef>
              <a:spcAft>
                <a:spcPts val="0"/>
              </a:spcAft>
              <a:buNone/>
            </a:pPr>
            <a:r>
              <a:rPr b="1" lang="es-419" sz="1650">
                <a:solidFill>
                  <a:srgbClr val="000000"/>
                </a:solidFill>
                <a:latin typeface="Roboto"/>
                <a:ea typeface="Roboto"/>
                <a:cs typeface="Roboto"/>
                <a:sym typeface="Roboto"/>
              </a:rPr>
              <a:t>Insertar registros desde el DataFrame a otros sistemas de bases de datos:</a:t>
            </a:r>
            <a:endParaRPr b="1" sz="1650">
              <a:solidFill>
                <a:srgbClr val="000000"/>
              </a:solidFill>
              <a:latin typeface="Roboto"/>
              <a:ea typeface="Roboto"/>
              <a:cs typeface="Roboto"/>
              <a:sym typeface="Roboto"/>
            </a:endParaRPr>
          </a:p>
          <a:p>
            <a:pPr indent="0" lvl="0" marL="0" rtl="0" algn="l">
              <a:spcBef>
                <a:spcPts val="400"/>
              </a:spcBef>
              <a:spcAft>
                <a:spcPts val="0"/>
              </a:spcAft>
              <a:buNone/>
            </a:pPr>
            <a:r>
              <a:rPr lang="es-419" sz="1200">
                <a:solidFill>
                  <a:srgbClr val="374151"/>
                </a:solidFill>
                <a:latin typeface="Roboto"/>
                <a:ea typeface="Roboto"/>
                <a:cs typeface="Roboto"/>
                <a:sym typeface="Roboto"/>
              </a:rPr>
              <a:t>Para otros sistemas de bases de datos como MySQL, PostgreSQL, etc., puedes usar la biblioteca </a:t>
            </a:r>
            <a:r>
              <a:rPr lang="es-419" sz="1050">
                <a:solidFill>
                  <a:srgbClr val="374151"/>
                </a:solidFill>
                <a:latin typeface="Courier New"/>
                <a:ea typeface="Courier New"/>
                <a:cs typeface="Courier New"/>
                <a:sym typeface="Courier New"/>
              </a:rPr>
              <a:t>sqlalchemy</a:t>
            </a:r>
            <a:r>
              <a:rPr lang="es-419" sz="1200">
                <a:solidFill>
                  <a:srgbClr val="374151"/>
                </a:solidFill>
                <a:latin typeface="Roboto"/>
                <a:ea typeface="Roboto"/>
                <a:cs typeface="Roboto"/>
                <a:sym typeface="Roboto"/>
              </a:rPr>
              <a:t> para gestionar la conexión y luego usar el mismo método </a:t>
            </a:r>
            <a:r>
              <a:rPr lang="es-419" sz="1050">
                <a:solidFill>
                  <a:srgbClr val="374151"/>
                </a:solidFill>
                <a:latin typeface="Courier New"/>
                <a:ea typeface="Courier New"/>
                <a:cs typeface="Courier New"/>
                <a:sym typeface="Courier New"/>
              </a:rPr>
              <a:t>to_sql</a:t>
            </a:r>
            <a:r>
              <a:rPr lang="es-419" sz="1200">
                <a:solidFill>
                  <a:srgbClr val="374151"/>
                </a:solidFill>
                <a:latin typeface="Roboto"/>
                <a:ea typeface="Roboto"/>
                <a:cs typeface="Roboto"/>
                <a:sym typeface="Roboto"/>
              </a:rPr>
              <a:t> de </a:t>
            </a:r>
            <a:r>
              <a:rPr lang="es-419" sz="1050">
                <a:solidFill>
                  <a:srgbClr val="374151"/>
                </a:solidFill>
                <a:latin typeface="Courier New"/>
                <a:ea typeface="Courier New"/>
                <a:cs typeface="Courier New"/>
                <a:sym typeface="Courier New"/>
              </a:rPr>
              <a:t>pandas</a:t>
            </a:r>
            <a:r>
              <a:rPr lang="es-419" sz="1200">
                <a:solidFill>
                  <a:srgbClr val="374151"/>
                </a:solidFill>
                <a:latin typeface="Roboto"/>
                <a:ea typeface="Roboto"/>
                <a:cs typeface="Roboto"/>
                <a:sym typeface="Roboto"/>
              </a:rPr>
              <a:t>:</a:t>
            </a:r>
            <a:endParaRPr sz="1200">
              <a:solidFill>
                <a:srgbClr val="374151"/>
              </a:solidFill>
              <a:latin typeface="Roboto"/>
              <a:ea typeface="Roboto"/>
              <a:cs typeface="Roboto"/>
              <a:sym typeface="Roboto"/>
            </a:endParaRPr>
          </a:p>
          <a:p>
            <a:pPr indent="0" lvl="0" marL="0" rtl="0" algn="l">
              <a:spcBef>
                <a:spcPts val="15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419" sz="1200">
                <a:solidFill>
                  <a:srgbClr val="374151"/>
                </a:solidFill>
                <a:highlight>
                  <a:srgbClr val="F7F7F8"/>
                </a:highlight>
                <a:latin typeface="Roboto"/>
                <a:ea typeface="Roboto"/>
                <a:cs typeface="Roboto"/>
                <a:sym typeface="Roboto"/>
              </a:rPr>
              <a:t>Con este método, puedes insertar fácilmente los registros de cualquier DataFrame en una base de datos. El argumento </a:t>
            </a:r>
            <a:r>
              <a:rPr lang="es-419" sz="950">
                <a:solidFill>
                  <a:srgbClr val="188038"/>
                </a:solidFill>
                <a:highlight>
                  <a:srgbClr val="F7F7F8"/>
                </a:highlight>
                <a:latin typeface="Courier New"/>
                <a:ea typeface="Courier New"/>
                <a:cs typeface="Courier New"/>
                <a:sym typeface="Courier New"/>
              </a:rPr>
              <a:t>if_exists</a:t>
            </a:r>
            <a:r>
              <a:rPr lang="es-419" sz="1200">
                <a:solidFill>
                  <a:srgbClr val="374151"/>
                </a:solidFill>
                <a:highlight>
                  <a:srgbClr val="F7F7F8"/>
                </a:highlight>
                <a:latin typeface="Roboto"/>
                <a:ea typeface="Roboto"/>
                <a:cs typeface="Roboto"/>
                <a:sym typeface="Roboto"/>
              </a:rPr>
              <a:t> determina qué hacer si la tabla ya existe: </a:t>
            </a:r>
            <a:r>
              <a:rPr lang="es-419" sz="950">
                <a:solidFill>
                  <a:srgbClr val="188038"/>
                </a:solidFill>
                <a:highlight>
                  <a:srgbClr val="F7F7F8"/>
                </a:highlight>
                <a:latin typeface="Courier New"/>
                <a:ea typeface="Courier New"/>
                <a:cs typeface="Courier New"/>
                <a:sym typeface="Courier New"/>
              </a:rPr>
              <a:t>'fail'</a:t>
            </a:r>
            <a:r>
              <a:rPr lang="es-419" sz="1200">
                <a:solidFill>
                  <a:srgbClr val="374151"/>
                </a:solidFill>
                <a:highlight>
                  <a:srgbClr val="F7F7F8"/>
                </a:highlight>
                <a:latin typeface="Roboto"/>
                <a:ea typeface="Roboto"/>
                <a:cs typeface="Roboto"/>
                <a:sym typeface="Roboto"/>
              </a:rPr>
              <a:t> (por defecto) no hace nada y genera un error, </a:t>
            </a:r>
            <a:r>
              <a:rPr lang="es-419" sz="950">
                <a:solidFill>
                  <a:srgbClr val="188038"/>
                </a:solidFill>
                <a:highlight>
                  <a:srgbClr val="F7F7F8"/>
                </a:highlight>
                <a:latin typeface="Courier New"/>
                <a:ea typeface="Courier New"/>
                <a:cs typeface="Courier New"/>
                <a:sym typeface="Courier New"/>
              </a:rPr>
              <a:t>'replace'</a:t>
            </a:r>
            <a:r>
              <a:rPr lang="es-419" sz="1200">
                <a:solidFill>
                  <a:srgbClr val="374151"/>
                </a:solidFill>
                <a:highlight>
                  <a:srgbClr val="F7F7F8"/>
                </a:highlight>
                <a:latin typeface="Roboto"/>
                <a:ea typeface="Roboto"/>
                <a:cs typeface="Roboto"/>
                <a:sym typeface="Roboto"/>
              </a:rPr>
              <a:t> elimina la tabla y crea una nueva, y </a:t>
            </a:r>
            <a:r>
              <a:rPr lang="es-419" sz="950">
                <a:solidFill>
                  <a:srgbClr val="188038"/>
                </a:solidFill>
                <a:highlight>
                  <a:srgbClr val="F7F7F8"/>
                </a:highlight>
                <a:latin typeface="Courier New"/>
                <a:ea typeface="Courier New"/>
                <a:cs typeface="Courier New"/>
                <a:sym typeface="Courier New"/>
              </a:rPr>
              <a:t>'append'</a:t>
            </a:r>
            <a:r>
              <a:rPr lang="es-419" sz="1200">
                <a:solidFill>
                  <a:srgbClr val="374151"/>
                </a:solidFill>
                <a:highlight>
                  <a:srgbClr val="F7F7F8"/>
                </a:highlight>
                <a:latin typeface="Roboto"/>
                <a:ea typeface="Roboto"/>
                <a:cs typeface="Roboto"/>
                <a:sym typeface="Roboto"/>
              </a:rPr>
              <a:t> añade los registros al final de la tabla existente.</a:t>
            </a:r>
            <a:endParaRPr/>
          </a:p>
        </p:txBody>
      </p:sp>
      <p:sp>
        <p:nvSpPr>
          <p:cNvPr id="228" name="Google Shape;228;p34"/>
          <p:cNvSpPr txBox="1"/>
          <p:nvPr>
            <p:ph type="title"/>
          </p:nvPr>
        </p:nvSpPr>
        <p:spPr>
          <a:xfrm>
            <a:off x="727650" y="5730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Insertar casos para agregar o actualizar en la BdD</a:t>
            </a:r>
            <a:endParaRPr/>
          </a:p>
        </p:txBody>
      </p:sp>
      <p:pic>
        <p:nvPicPr>
          <p:cNvPr id="229" name="Google Shape;229;p34"/>
          <p:cNvPicPr preferRelativeResize="0"/>
          <p:nvPr/>
        </p:nvPicPr>
        <p:blipFill>
          <a:blip r:embed="rId3">
            <a:alphaModFix/>
          </a:blip>
          <a:stretch>
            <a:fillRect/>
          </a:stretch>
        </p:blipFill>
        <p:spPr>
          <a:xfrm>
            <a:off x="956623" y="2509163"/>
            <a:ext cx="3157900" cy="13893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5" name="Google Shape;235;p3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6" name="Google Shape;236;p3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